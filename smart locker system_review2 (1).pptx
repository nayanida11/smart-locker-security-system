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0" r:id="rId10"/>
    <p:sldId id="264" r:id="rId11"/>
    <p:sldId id="265" r:id="rId12"/>
    <p:sldId id="266" r:id="rId13"/>
    <p:sldId id="268" r:id="rId14"/>
    <p:sldId id="267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548640"/>
            <a:ext cx="1828800" cy="1828800"/>
          </a:xfrm>
          <a:prstGeom prst="ellipse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463040"/>
            <a:ext cx="1005840" cy="1005840"/>
          </a:xfrm>
          <a:prstGeom prst="ellipse">
            <a:avLst/>
          </a:prstGeom>
          <a:solidFill>
            <a:srgbClr val="46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594360" cy="594360"/>
          </a:xfrm>
          <a:prstGeom prst="ellipse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04672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D2E6"/>
                </a:solidFill>
                <a:latin typeface="Aptos"/>
              </a:defRPr>
            </a:pPr>
            <a:r>
              <a:t>EMBEDDED SYSTEMS  / SECURITY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82296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SMART LOCKER</a:t>
            </a:r>
          </a:p>
          <a:p>
            <a:pPr>
              <a:spcAft>
                <a:spcPts val="6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SECURITY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983230"/>
            <a:ext cx="7680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FFBE46"/>
                </a:solidFill>
                <a:latin typeface="Aptos"/>
              </a:defRPr>
            </a:pPr>
            <a:r>
              <a:t>Two-Factor Dynamic OTP + Silent Duress Alarm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977639"/>
            <a:ext cx="71323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DBED2"/>
                </a:solidFill>
                <a:latin typeface="Aptos"/>
              </a:defRPr>
            </a:pPr>
            <a:r>
              <a:rPr dirty="0"/>
              <a:t>An Arduino-based electronic locker concept combining password verification, time-limited OTP, monitoring, and emergency alerting.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281160" y="3840480"/>
            <a:ext cx="2103120" cy="914400"/>
          </a:xfrm>
          <a:prstGeom prst="roundRect">
            <a:avLst/>
          </a:prstGeom>
          <a:solidFill>
            <a:srgbClr val="162843"/>
          </a:solidFill>
          <a:ln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3995928"/>
            <a:ext cx="187451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0D2E6"/>
                </a:solidFill>
                <a:latin typeface="Aptos"/>
              </a:defRPr>
            </a:pPr>
            <a:r>
              <a:t>2-FACTOR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0D2E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7955279" cy="2057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D2E6"/>
                </a:solidFill>
                <a:latin typeface="Aptos"/>
              </a:defRPr>
            </a:pPr>
            <a:r>
              <a:t>TEAM MEMBERS</a:t>
            </a:r>
          </a:p>
          <a:p>
            <a:pPr>
              <a:spcAft>
                <a:spcPts val="40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ASK NAYANIDA – CB.SC.U4CSE25601</a:t>
            </a:r>
          </a:p>
          <a:p>
            <a:pPr>
              <a:spcAft>
                <a:spcPts val="40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ADWAITH V – CB.SC.U4CSE25602</a:t>
            </a:r>
          </a:p>
          <a:p>
            <a:pPr>
              <a:spcAft>
                <a:spcPts val="40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AGASTYA JL – CB.SC.U4CSE25603</a:t>
            </a:r>
          </a:p>
          <a:p>
            <a:pPr>
              <a:spcAft>
                <a:spcPts val="40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SHANJANA V – CB.SC.U4CSE25654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01 / 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20440" cy="1874519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5D6E"/>
                </a:solidFill>
                <a:latin typeface="Aptos"/>
              </a:defRPr>
            </a:pPr>
            <a:r>
              <a:t>KEY / LOCK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191256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Mechanical keys can be copied, stolen, or picked.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Static PINs can be observed or inferred.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1874519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COERCION DILEMMA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191256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A person threatened into opening a safe may have no discreet way to request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874519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46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691FF"/>
                </a:solidFill>
                <a:latin typeface="Aptos"/>
              </a:defRPr>
            </a:pPr>
            <a:r>
              <a:t>LEFT-OPEN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191256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Users may forget to secure a locker after accessing its contents.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D2E6"/>
                </a:solidFill>
                <a:latin typeface="Aptos"/>
              </a:defRPr>
            </a:pPr>
            <a:r>
              <a:t>Design 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103327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4F8FC"/>
                </a:solidFill>
                <a:latin typeface="Aptos"/>
              </a:defRPr>
            </a:pPr>
            <a:r>
              <a:t>Bring multi-factor authentication and event monitoring to physical storage—while keeping the user workflow simple and providing a discreet duress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Proposed System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02 /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20440" cy="19202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FACTOR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191256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8FC"/>
                </a:solidFill>
                <a:latin typeface="Aptos"/>
              </a:defRPr>
            </a:pPr>
            <a:r>
              <a:t>Master password entered through a 4×4 keypad.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19202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FACTOR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191256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8FC"/>
                </a:solidFill>
                <a:latin typeface="Aptos"/>
              </a:defRPr>
            </a:pPr>
            <a:r>
              <a:t>Random 4-digit OTP with a 60-second validity 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9202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5D6E"/>
                </a:solidFill>
                <a:latin typeface="Aptos"/>
              </a:defRPr>
            </a:pPr>
            <a:r>
              <a:t>DURESS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191256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Special 9999# code follows the normal unlock flow while generating a silent alert.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10607040" cy="18288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Allow the locker to remain open while the user is accessing items.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Warn if the door is left open for more than two minutes.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Apply a three-failure limit and a 30-second lockout.</a:t>
            </a:r>
          </a:p>
          <a:p>
            <a:pPr>
              <a:spcAft>
                <a:spcPts val="9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Monitor door contact and nearby motion where sensors are installed.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03 / INPUT → CONTROL →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154680" cy="33832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20240"/>
            <a:ext cx="2825496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4×4 keypad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Door / reed switch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PIR motion sensor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Analog seed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154680" cy="33832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52704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920240"/>
            <a:ext cx="2825496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Arduino Uno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Authentication logic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OTP timer + attempt counter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EEPROM credential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417320"/>
            <a:ext cx="3154680" cy="33832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52704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920240"/>
            <a:ext cx="2825496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16×2 I²C LCD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SG90 servo latch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Buzzer + status LEDs</a:t>
            </a:r>
          </a:p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Serial / GSM alert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94760" y="3108960"/>
            <a:ext cx="685800" cy="0"/>
          </a:xfrm>
          <a:prstGeom prst="line">
            <a:avLst/>
          </a:prstGeom>
          <a:ln w="38100">
            <a:solidFill>
              <a:srgbClr val="00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3108960"/>
            <a:ext cx="685800" cy="0"/>
          </a:xfrm>
          <a:prstGeom prst="line">
            <a:avLst/>
          </a:prstGeom>
          <a:ln w="38100">
            <a:solidFill>
              <a:srgbClr val="00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25780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ADBED2"/>
                </a:solidFill>
                <a:latin typeface="Aptos"/>
              </a:defRPr>
            </a:pPr>
            <a:r>
              <a:t>The Arduino coordinates user input, authentication state, timers, sensors and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Working Principle &amp; Operational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05 / AUTHENTICATION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74720" cy="16916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35607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01 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28800"/>
            <a:ext cx="3145536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Initialize hardware, LCD and EEPROM.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474720" cy="16916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435607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02 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828800"/>
            <a:ext cx="3145536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User enters master password.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325880"/>
            <a:ext cx="3474720" cy="16916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1435607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03  OTP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1828800"/>
            <a:ext cx="3145536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Generate and deliver a 4-digit OTP; start 60 s timer.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74720" cy="16916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46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675888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691FF"/>
                </a:solidFill>
                <a:latin typeface="Aptos"/>
              </a:defRPr>
            </a:pPr>
            <a:r>
              <a:t>04 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69080"/>
            <a:ext cx="3145536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Check code and expiry; count failed attempts.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566160"/>
            <a:ext cx="3474720" cy="16916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675888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AAA0"/>
                </a:solidFill>
                <a:latin typeface="Aptos"/>
              </a:defRPr>
            </a:pPr>
            <a:r>
              <a:t>05  Unlock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4069080"/>
            <a:ext cx="3145536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Move servo to 90°; green LED; start open timer.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566160"/>
            <a:ext cx="3474720" cy="16916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3675888"/>
            <a:ext cx="31455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5D6E"/>
                </a:solidFill>
                <a:latin typeface="Aptos"/>
              </a:defRPr>
            </a:pPr>
            <a:r>
              <a:t>06  Secure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4069080"/>
            <a:ext cx="3145536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User presses # to lock; alert if open &gt; 2 min.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DBED2"/>
                </a:solidFill>
                <a:latin typeface="Aptos"/>
              </a:defRPr>
            </a:pPr>
            <a:r>
              <a:t>Special cases: C resends OTP • * clears input • 3 failed attempts trigger 30-second lockout.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Core Security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06 / 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94960" cy="18288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44168"/>
            <a:ext cx="50657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DYNAMIC OTP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5065776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8FC"/>
                </a:solidFill>
                <a:latin typeface="Aptos"/>
              </a:defRPr>
            </a:pPr>
            <a:r>
              <a:t>Four-digit code; 60-second expiry; user can request a fresh code with 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18288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344168"/>
            <a:ext cx="4928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5D6E"/>
                </a:solidFill>
                <a:latin typeface="Aptos"/>
              </a:defRPr>
            </a:pPr>
            <a:r>
              <a:t>SILENT DURESS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737360"/>
            <a:ext cx="4928616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9999# opens through the usual flow and triggers a discreet high-priority alert.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94960" cy="18288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538728"/>
            <a:ext cx="50657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LEFT-OPEN GUARDIAN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31920"/>
            <a:ext cx="5065776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If the locker remains open beyond two minutes, buzzer and warning alert activate.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257800" cy="18288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538728"/>
            <a:ext cx="4928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BRUTE-FORCE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931920"/>
            <a:ext cx="4928616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Three failed attempts lead to a 30-second lockout and admin alert.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Complete Security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07 / VISUAL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5110" y="1069848"/>
            <a:ext cx="346147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Hardware Components &amp;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04 / BILL OF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89920" cy="539496"/>
          </a:xfrm>
          <a:prstGeom prst="roundRect">
            <a:avLst/>
          </a:prstGeom>
          <a:solidFill>
            <a:srgbClr val="16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2588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Arduino Uno / ATmega328P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325880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Main controller • 16 MHz • 2 KB SRAM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92808"/>
            <a:ext cx="10789920" cy="539496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4×4 membrane keypad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84248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PIN, OTP and admin input • D2–D9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51176"/>
            <a:ext cx="10789920" cy="539496"/>
          </a:xfrm>
          <a:prstGeom prst="roundRect">
            <a:avLst/>
          </a:prstGeom>
          <a:solidFill>
            <a:srgbClr val="16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42616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1602 LCD + PCF8574 I²C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642616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User prompts/status • A4 SDA, A5 SCL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9544"/>
            <a:ext cx="10789920" cy="539496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30098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SG90 micro servo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300984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Latch actuator • D10 PWM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67912"/>
            <a:ext cx="10789920" cy="539496"/>
          </a:xfrm>
          <a:prstGeom prst="roundRect">
            <a:avLst/>
          </a:prstGeom>
          <a:solidFill>
            <a:srgbClr val="16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5935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Piezo buzzer + LEDs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959352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Audio/visual feedback • D11–D13, A0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79"/>
            <a:ext cx="10789920" cy="539496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617719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Door switch + PIR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17719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Door/tamper and motion monitoring • A1, A2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84648"/>
            <a:ext cx="10789920" cy="539496"/>
          </a:xfrm>
          <a:prstGeom prst="roundRect">
            <a:avLst/>
          </a:prstGeom>
          <a:solidFill>
            <a:srgbClr val="162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27608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D2E6"/>
                </a:solidFill>
                <a:latin typeface="Aptos"/>
              </a:defRPr>
            </a:pPr>
            <a:r>
              <a:t>EEPROM + optional SIM800L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276088"/>
            <a:ext cx="7269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Credential persistence; SMS in physical 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Circuit Design &amp; Pin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08 / WIRING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500" b="1">
                <a:solidFill>
                  <a:srgbClr val="00D2E6"/>
                </a:solidFill>
                <a:latin typeface="Aptos"/>
              </a:defRPr>
            </a:pPr>
            <a:r>
              <a:t>ARDUINO UNO — PIN ASSIGNMENTS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D2E6"/>
                </a:solidFill>
                <a:latin typeface="Aptos"/>
              </a:defRPr>
            </a:pPr>
            <a:r>
              <a:t>D2–D9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46504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4×4 KEYPAD — ROWS &amp;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95728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D2E6"/>
                </a:solidFill>
                <a:latin typeface="Aptos"/>
              </a:defRPr>
            </a:pPr>
            <a:r>
              <a:t>D10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96312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SERVO PWM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45536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D2E6"/>
                </a:solidFill>
                <a:latin typeface="Aptos"/>
              </a:defRPr>
            </a:pPr>
            <a:r>
              <a:t>D11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46120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BUZZER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95344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95928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D2E6"/>
                </a:solidFill>
                <a:latin typeface="Aptos"/>
              </a:defRPr>
            </a:pPr>
            <a:r>
              <a:t>D12 / D13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95928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RED / GREEN STATUS LEDS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645152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45736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00D2E6"/>
                </a:solidFill>
                <a:latin typeface="Aptos"/>
              </a:defRPr>
            </a:pPr>
            <a:r>
              <a:t>A0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45736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YELLOW STATUS 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45920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46504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55DCA0"/>
                </a:solidFill>
                <a:latin typeface="Aptos"/>
              </a:defRPr>
            </a:pPr>
            <a:r>
              <a:t>A1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746504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DOOR SENSOR (INPUT_PULLUP)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95728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96312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55DCA0"/>
                </a:solidFill>
                <a:latin typeface="Aptos"/>
              </a:defRPr>
            </a:pPr>
            <a:r>
              <a:t>A2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496312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PIR MOTION SENSOR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145536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46120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55DCA0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246120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ANALOG INPUT FOR RANDOM SEED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895344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995928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55DCA0"/>
                </a:solidFill>
                <a:latin typeface="Aptos"/>
              </a:defRPr>
            </a:pPr>
            <a:r>
              <a:t>A4 / A5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995928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LCD I²C — SDA / SCL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45152"/>
            <a:ext cx="5074920" cy="603504"/>
          </a:xfrm>
          <a:prstGeom prst="rect">
            <a:avLst/>
          </a:prstGeom>
          <a:solidFill>
            <a:srgbClr val="162843"/>
          </a:solidFill>
          <a:ln w="10160">
            <a:solidFill>
              <a:srgbClr val="2A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45736"/>
            <a:ext cx="132588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400" b="1">
                <a:solidFill>
                  <a:srgbClr val="55DCA0"/>
                </a:solidFill>
                <a:latin typeface="Aptos"/>
              </a:defRPr>
            </a:pPr>
            <a:r>
              <a:t>D0 / D1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45736"/>
            <a:ext cx="3383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F4F8FC"/>
                </a:solidFill>
                <a:latin typeface="Aptos"/>
              </a:defRPr>
            </a:pPr>
            <a:r>
              <a:t>UART FOR SERIAL / GSM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defRPr sz="1100" b="0">
                <a:solidFill>
                  <a:srgbClr val="ADBED2"/>
                </a:solidFill>
                <a:latin typeface="Aptos"/>
              </a:defRPr>
            </a:pPr>
            <a:r>
              <a:t>I²C LCD reduces display wiring to two signal lines: SDA and SCL.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Software Architecture &amp; Memory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09 / EMBEDDED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520440" cy="20116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8988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STATE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3191256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Boot → password → OTP → unlock → open monitoring → 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520440" cy="20116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8988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FLASH STRINGS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83080"/>
            <a:ext cx="3191256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Use F() / PROGMEM for fixed UI and serial strings to reduce SRAM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520440" cy="20116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8988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EEPROM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83080"/>
            <a:ext cx="3191256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Store credentials persistently with a validation marker (0xAA).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D2E6"/>
                </a:solidFill>
                <a:latin typeface="Aptos"/>
              </a:defRPr>
            </a:pPr>
            <a:r>
              <a:t>Reported optimization in the supplied project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2412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4F8FC"/>
                </a:solidFill>
                <a:latin typeface="Aptos"/>
              </a:defRPr>
            </a:pPr>
            <a:r>
              <a:t>Static string RAM use: 1,502 bytes → 65 bytes (about 95% reduction). This is the reported project figure; confirm with the final compiled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Simulation &amp; 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10 / WOKWI TEST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20440" cy="35204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TEST 1 • VALID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37360"/>
            <a:ext cx="3191256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Enter 1234#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OTP generated: example 4729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Enter 4729#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Expected: ACCESS_GRANTED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35204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TEST 2 • EXPIRY /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191256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Wait beyond 60 seconds or enter a wrong OTP.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Expected: reject OTP, count failure and show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35204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44168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5D6E"/>
                </a:solidFill>
                <a:latin typeface="Aptos"/>
              </a:defRPr>
            </a:pPr>
            <a:r>
              <a:t>TEST 3 • DURESS /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191256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Enter 9999# for duress alert.</a:t>
            </a:r>
          </a:p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Leave door open &gt; 2 minutes to test warning.</a:t>
            </a:r>
          </a:p>
          <a:p>
            <a:pPr>
              <a:spcAft>
                <a:spcPts val="6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Press # to secure.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DBED2"/>
                </a:solidFill>
                <a:latin typeface="Aptos"/>
              </a:defRPr>
            </a:pPr>
            <a:r>
              <a:t>The supplied notes show Serial Monitor output for OTP, access-granted alert, and successful relocking.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Advantages &amp; 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12 / WHERE IT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49240" cy="356616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89888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5020055" cy="2971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Two-factor access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Time-limited OTP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Discreet duress alert concept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Left-open warning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Low-cost embedded platform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Can operate without cloud dependency when using local logic / cellular SMS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356616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89888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783080"/>
            <a:ext cx="4974336" cy="2971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Bank and safe-deposit lockers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Jewellery and retail storage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Gym and campus lockers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Pharmacy storage cabinets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Parcel collection lockers</a:t>
            </a:r>
          </a:p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• Personal document or equipment safes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Physical Prototype &amp; Real-World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11 / FROM SIMULATION TO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20116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35607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28800"/>
            <a:ext cx="5020055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8FC"/>
                </a:solidFill>
                <a:latin typeface="Aptos"/>
              </a:defRPr>
            </a:pPr>
            <a:r>
              <a:t>Serial Monitor can emulate delivery of an OTP and show telemetry during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201168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35607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CELLULAR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28800"/>
            <a:ext cx="4974336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4F8FC"/>
                </a:solidFill>
                <a:latin typeface="Aptos"/>
              </a:defRPr>
            </a:pPr>
            <a:r>
              <a:t>SIM800L can send SMS using AT commands such as AT+CMGF=1 and AT+CMGS.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349240" cy="150876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813048"/>
            <a:ext cx="50200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POWER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06240"/>
            <a:ext cx="5020055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Use regulated supplies appropriate to the Arduino, servo and GSM current peaks.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303520" cy="150876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46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691FF"/>
                </a:solidFill>
                <a:latin typeface="Aptos"/>
              </a:defRPr>
            </a:pPr>
            <a:r>
              <a:t>MECHANICAL LATCH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206240"/>
            <a:ext cx="4974336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Couple the servo to a suitable sliding deadbolt; test alignment and torque.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ADBED2"/>
                </a:solidFill>
                <a:latin typeface="Aptos"/>
              </a:defRPr>
            </a:pPr>
            <a:r>
              <a:t>Prototype status and SMS delivery should be verified on the actual hardware before claiming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Future Scope &amp;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13 / NEXT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22860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00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35607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E6"/>
                </a:solidFill>
                <a:latin typeface="Aptos"/>
              </a:defRPr>
            </a:pPr>
            <a:r>
              <a:t>3-FACTOR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28800"/>
            <a:ext cx="3191256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Add MFRC522 RFID card verification alongside password and OTP.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22860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35607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5DCA0"/>
                </a:solidFill>
                <a:latin typeface="Aptos"/>
              </a:defRPr>
            </a:pPr>
            <a:r>
              <a:t>BIOMETRICS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28800"/>
            <a:ext cx="3191256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Integrate an optical fingerprint sensor such as R307.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228600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435607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BE46"/>
                </a:solidFill>
                <a:latin typeface="Aptos"/>
              </a:defRPr>
            </a:pPr>
            <a:r>
              <a:t>CLOUD /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28800"/>
            <a:ext cx="3191256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ESP32 + Wi-Fi/MQTT, Firebase logging and mobile push notifications.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069080"/>
            <a:ext cx="7178040" cy="1234440"/>
          </a:xfrm>
          <a:prstGeom prst="roundRect">
            <a:avLst/>
          </a:prstGeom>
          <a:solidFill>
            <a:srgbClr val="162843"/>
          </a:solidFill>
          <a:ln w="15875">
            <a:solidFill>
              <a:srgbClr val="46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4178808"/>
            <a:ext cx="684885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691FF"/>
                </a:solidFill>
                <a:latin typeface="Aptos"/>
              </a:defRPr>
            </a:pPr>
            <a:r>
              <a:t>AUDIT TIMESTAMPS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4572000"/>
            <a:ext cx="6848855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4F8FC"/>
                </a:solidFill>
                <a:latin typeface="Aptos"/>
              </a:defRPr>
            </a:pPr>
            <a:r>
              <a:t>Add DS3231 RTC for battery-backed event timestamps and audit logs.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4F8FC"/>
                </a:solidFill>
                <a:latin typeface="Aptos"/>
              </a:defRPr>
            </a:pPr>
            <a:r>
              <a:t>Conclusion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96112"/>
            <a:ext cx="960120" cy="50292"/>
          </a:xfrm>
          <a:prstGeom prst="rect">
            <a:avLst/>
          </a:prstGeom>
          <a:solidFill>
            <a:srgbClr val="00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68096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14 /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DBED2"/>
                </a:solidFill>
                <a:latin typeface="Aptos"/>
              </a:defRPr>
            </a:pPr>
            <a:r>
              <a:t>SMART LOCKER SECURITY SYSTEM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D2E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424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0D2E6"/>
                </a:solidFill>
                <a:latin typeface="Aptos"/>
              </a:defRPr>
            </a:pPr>
            <a:r>
              <a:t>A layered approach to physical locker security.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241280" cy="2468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Combines a master password with a time-limited OTP.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Introduces a discreet duress-code alert for coercion scenarios.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Monitors door-open duration and limits repeated failed attempts.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Uses embedded C++ techniques and EEPROM for constrained hardware.</a:t>
            </a:r>
          </a:p>
          <a:p>
            <a:pPr>
              <a:spcAft>
                <a:spcPts val="9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•  Provides a practical foundation for a physical prototype and future upgrades.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BE46"/>
                </a:solidFill>
                <a:latin typeface="Aptos"/>
              </a:defRPr>
            </a:pPr>
            <a:r>
              <a:t>Key message: secure access should protect both stored valuables and the person using the locker.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7093</Words>
  <Application>WPS Presentation</Application>
  <PresentationFormat>Widescreen</PresentationFormat>
  <Paragraphs>399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Arial</vt:lpstr>
      <vt:lpstr>Aptos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agastiya</cp:lastModifiedBy>
  <cp:revision>3</cp:revision>
  <dcterms:created xsi:type="dcterms:W3CDTF">2026-10-15T16:35:09Z</dcterms:created>
  <dcterms:modified xsi:type="dcterms:W3CDTF">2026-10-15T16:35:09Z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3E17C63CB04BDCC7BD00D16A7D78FF76_43</vt:lpwstr>
  </property>
</Properties>
</file>